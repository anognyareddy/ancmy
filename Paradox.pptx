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64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Press Start 2P" panose="020B0604020202020204" charset="0"/>
      <p:regular r:id="rId10"/>
    </p:embeddedFont>
    <p:embeddedFont>
      <p:font typeface="Stencil" panose="040409050D0802020404" pitchFamily="8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85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8B815-85D6-4054-9E65-1893050FE926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28CFE-98DE-42CF-9C5C-CC3E9806D6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947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28CFE-98DE-42CF-9C5C-CC3E9806D65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726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C28CFE-98DE-42CF-9C5C-CC3E9806D65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732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401" y="3382"/>
            <a:ext cx="14432749" cy="10283618"/>
          </a:xfrm>
          <a:custGeom>
            <a:avLst/>
            <a:gdLst/>
            <a:ahLst/>
            <a:cxnLst/>
            <a:rect l="l" t="t" r="r" b="b"/>
            <a:pathLst>
              <a:path w="14432749" h="10283618">
                <a:moveTo>
                  <a:pt x="0" y="0"/>
                </a:moveTo>
                <a:lnTo>
                  <a:pt x="14432749" y="0"/>
                </a:lnTo>
                <a:lnTo>
                  <a:pt x="14432749" y="10283618"/>
                </a:lnTo>
                <a:lnTo>
                  <a:pt x="0" y="102836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675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18662" y="5719949"/>
            <a:ext cx="8396385" cy="91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15"/>
              </a:lnSpc>
              <a:spcBef>
                <a:spcPct val="0"/>
              </a:spcBef>
            </a:pPr>
            <a:r>
              <a:rPr lang="en-US" sz="6000" dirty="0">
                <a:solidFill>
                  <a:srgbClr val="000000"/>
                </a:solidFill>
                <a:latin typeface="Stencil" panose="040409050D0802020404" pitchFamily="82" charset="0"/>
                <a:ea typeface="Press Start 2P" panose="00000500000000000000"/>
                <a:cs typeface="Press Start 2P" panose="00000500000000000000"/>
                <a:sym typeface="Press Start 2P" panose="00000500000000000000"/>
              </a:rPr>
              <a:t>Re-Habit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45155" y="7236647"/>
            <a:ext cx="4343400" cy="74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20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000000"/>
                </a:solidFill>
                <a:latin typeface="Stencil" panose="040409050D0802020404" pitchFamily="82" charset="0"/>
                <a:ea typeface="Press Start 2P" panose="00000500000000000000"/>
                <a:cs typeface="Press Start 2P" panose="00000500000000000000"/>
                <a:sym typeface="Press Start 2P" panose="00000500000000000000"/>
              </a:rPr>
              <a:t>Paradox</a:t>
            </a:r>
          </a:p>
        </p:txBody>
      </p:sp>
      <p:grpSp>
        <p:nvGrpSpPr>
          <p:cNvPr id="5" name="Group 5"/>
          <p:cNvGrpSpPr/>
          <p:nvPr/>
        </p:nvGrpSpPr>
        <p:grpSpPr>
          <a:xfrm rot="-10800000">
            <a:off x="16598336" y="32238"/>
            <a:ext cx="1689664" cy="2079392"/>
            <a:chOff x="0" y="0"/>
            <a:chExt cx="2252886" cy="2772523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523241"/>
              <a:ext cx="2252886" cy="2249281"/>
              <a:chOff x="0" y="0"/>
              <a:chExt cx="6350000" cy="633984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350000" cy="633984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39840">
                    <a:moveTo>
                      <a:pt x="6350000" y="6339840"/>
                    </a:moveTo>
                    <a:lnTo>
                      <a:pt x="0" y="6339840"/>
                    </a:lnTo>
                    <a:lnTo>
                      <a:pt x="0" y="0"/>
                    </a:lnTo>
                    <a:lnTo>
                      <a:pt x="6350000" y="6339840"/>
                    </a:lnTo>
                    <a:close/>
                  </a:path>
                </a:pathLst>
              </a:custGeom>
              <a:solidFill>
                <a:srgbClr val="D966F4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822081" y="0"/>
              <a:ext cx="1430804" cy="1428515"/>
              <a:chOff x="0" y="0"/>
              <a:chExt cx="6350000" cy="633984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633984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39840">
                    <a:moveTo>
                      <a:pt x="6350000" y="6339840"/>
                    </a:moveTo>
                    <a:lnTo>
                      <a:pt x="0" y="6339840"/>
                    </a:lnTo>
                    <a:lnTo>
                      <a:pt x="0" y="0"/>
                    </a:lnTo>
                    <a:lnTo>
                      <a:pt x="6350000" y="6339840"/>
                    </a:lnTo>
                    <a:close/>
                  </a:path>
                </a:pathLst>
              </a:custGeom>
              <a:solidFill>
                <a:srgbClr val="B96BE9"/>
              </a:solidFill>
            </p:spPr>
          </p:sp>
        </p:grpSp>
      </p:grpSp>
      <p:grpSp>
        <p:nvGrpSpPr>
          <p:cNvPr id="10" name="Group 10"/>
          <p:cNvGrpSpPr/>
          <p:nvPr/>
        </p:nvGrpSpPr>
        <p:grpSpPr>
          <a:xfrm>
            <a:off x="16622635" y="9486344"/>
            <a:ext cx="1665365" cy="800656"/>
            <a:chOff x="0" y="0"/>
            <a:chExt cx="660400" cy="317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8725B4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79375"/>
              <a:ext cx="660400" cy="238125"/>
            </a:xfrm>
            <a:prstGeom prst="rect">
              <a:avLst/>
            </a:prstGeom>
          </p:spPr>
          <p:txBody>
            <a:bodyPr lIns="116252" tIns="116252" rIns="116252" bIns="116252" rtlCol="0" anchor="ctr"/>
            <a:lstStyle/>
            <a:p>
              <a:pPr marL="0" lvl="0" indent="0" algn="ctr">
                <a:lnSpc>
                  <a:spcPts val="28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622635" y="8685688"/>
            <a:ext cx="1665365" cy="800656"/>
            <a:chOff x="0" y="0"/>
            <a:chExt cx="660400" cy="317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D966F4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79375"/>
              <a:ext cx="660400" cy="238125"/>
            </a:xfrm>
            <a:prstGeom prst="rect">
              <a:avLst/>
            </a:prstGeom>
          </p:spPr>
          <p:txBody>
            <a:bodyPr lIns="116252" tIns="116252" rIns="116252" bIns="116252" rtlCol="0" anchor="ctr"/>
            <a:lstStyle/>
            <a:p>
              <a:pPr marL="0" lvl="0" indent="0" algn="ctr">
                <a:lnSpc>
                  <a:spcPts val="28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C24E94-A609-4714-B774-313032B7B0A4}"/>
              </a:ext>
            </a:extLst>
          </p:cNvPr>
          <p:cNvSpPr/>
          <p:nvPr/>
        </p:nvSpPr>
        <p:spPr>
          <a:xfrm>
            <a:off x="1159227" y="1485900"/>
            <a:ext cx="9661174" cy="757450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9296400"/>
            <a:ext cx="4920107" cy="990600"/>
          </a:xfrm>
          <a:custGeom>
            <a:avLst/>
            <a:gdLst/>
            <a:ahLst/>
            <a:cxnLst/>
            <a:rect l="l" t="t" r="r" b="b"/>
            <a:pathLst>
              <a:path w="4920107" h="4920107">
                <a:moveTo>
                  <a:pt x="0" y="0"/>
                </a:moveTo>
                <a:lnTo>
                  <a:pt x="4920108" y="0"/>
                </a:lnTo>
                <a:lnTo>
                  <a:pt x="4920108" y="4920107"/>
                </a:lnTo>
                <a:lnTo>
                  <a:pt x="0" y="4920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0" y="1071386"/>
            <a:ext cx="1046064" cy="1205687"/>
            <a:chOff x="2789535" y="1696536"/>
            <a:chExt cx="6350000" cy="6339840"/>
          </a:xfrm>
        </p:grpSpPr>
        <p:sp>
          <p:nvSpPr>
            <p:cNvPr id="6" name="Freeform 6"/>
            <p:cNvSpPr/>
            <p:nvPr/>
          </p:nvSpPr>
          <p:spPr>
            <a:xfrm>
              <a:off x="2789535" y="1696536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D966F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27039" y="0"/>
            <a:ext cx="1073103" cy="1071386"/>
            <a:chOff x="1282281" y="0"/>
            <a:chExt cx="6350000" cy="6339840"/>
          </a:xfrm>
        </p:grpSpPr>
        <p:sp>
          <p:nvSpPr>
            <p:cNvPr id="8" name="Freeform 8"/>
            <p:cNvSpPr/>
            <p:nvPr/>
          </p:nvSpPr>
          <p:spPr>
            <a:xfrm>
              <a:off x="1282281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B96BE9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622635" y="9486344"/>
            <a:ext cx="1665365" cy="800656"/>
            <a:chOff x="0" y="0"/>
            <a:chExt cx="660400" cy="317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8725B4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79375"/>
              <a:ext cx="660400" cy="238125"/>
            </a:xfrm>
            <a:prstGeom prst="rect">
              <a:avLst/>
            </a:prstGeom>
          </p:spPr>
          <p:txBody>
            <a:bodyPr lIns="116252" tIns="116252" rIns="116252" bIns="116252" rtlCol="0" anchor="ctr"/>
            <a:lstStyle/>
            <a:p>
              <a:pPr marL="0" lvl="0" indent="0" algn="ctr">
                <a:lnSpc>
                  <a:spcPts val="28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622634" y="9020347"/>
            <a:ext cx="1665365" cy="800656"/>
            <a:chOff x="0" y="0"/>
            <a:chExt cx="660400" cy="317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D966F4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79375"/>
              <a:ext cx="660400" cy="238125"/>
            </a:xfrm>
            <a:prstGeom prst="rect">
              <a:avLst/>
            </a:prstGeom>
          </p:spPr>
          <p:txBody>
            <a:bodyPr lIns="116252" tIns="116252" rIns="116252" bIns="116252" rtlCol="0" anchor="ctr"/>
            <a:lstStyle/>
            <a:p>
              <a:pPr marL="0" lvl="0" indent="0" algn="ctr">
                <a:lnSpc>
                  <a:spcPts val="286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87827" y="1721891"/>
            <a:ext cx="9432574" cy="7574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2900" b="1" dirty="0" err="1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ReHabit</a:t>
            </a:r>
            <a:r>
              <a:rPr lang="en-US" sz="2900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 is a social platform that helps people build and stick to habits by combining </a:t>
            </a:r>
            <a:r>
              <a:rPr lang="en-US" sz="2900" b="1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community support with fun gamification.</a:t>
            </a:r>
          </a:p>
          <a:p>
            <a:pPr marL="571500" lvl="0" indent="-571500" algn="l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2900" b="1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Proof-of-completion</a:t>
            </a:r>
            <a:r>
              <a:rPr lang="en-US" sz="2900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 keeps things honest.</a:t>
            </a:r>
          </a:p>
          <a:p>
            <a:pPr marL="571500" lvl="0" indent="-571500" algn="l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2900" b="1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Friendly competitions and leaderboards </a:t>
            </a:r>
            <a:r>
              <a:rPr lang="en-US" sz="2900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make staying consistent motivating with fun.</a:t>
            </a:r>
          </a:p>
          <a:p>
            <a:pPr marL="571500" lvl="0" indent="-571500" algn="l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2900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Offers </a:t>
            </a:r>
            <a:r>
              <a:rPr lang="en-US" sz="2900" b="1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real-time reminders, streak tracking, and progress visuals</a:t>
            </a:r>
            <a:r>
              <a:rPr lang="en-US" sz="2900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 to keep users on track.</a:t>
            </a:r>
          </a:p>
          <a:p>
            <a:pPr marL="571500" lvl="0" indent="-571500" algn="l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2900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Focused on </a:t>
            </a:r>
            <a:r>
              <a:rPr lang="en-US" sz="2900" b="1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social motivation and gamified reinforcement, </a:t>
            </a:r>
            <a:r>
              <a:rPr lang="en-US" sz="2900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helping users turn good habits into lasting routines.</a:t>
            </a:r>
          </a:p>
          <a:p>
            <a:pPr marL="571500" lvl="0" indent="-571500" algn="l">
              <a:lnSpc>
                <a:spcPts val="5380"/>
              </a:lnSpc>
              <a:buFont typeface="Wingdings" panose="05000000000000000000" pitchFamily="2" charset="2"/>
              <a:buChar char="Ø"/>
            </a:pPr>
            <a:endParaRPr lang="en-US" sz="3845" dirty="0">
              <a:solidFill>
                <a:srgbClr val="140C16"/>
              </a:solidFill>
              <a:latin typeface="Monterchi Serif" panose="02000503060000020004"/>
              <a:ea typeface="Monterchi Serif" panose="02000503060000020004"/>
              <a:cs typeface="Monterchi Serif" panose="02000503060000020004"/>
              <a:sym typeface="Monterchi Serif" panose="020005030600000200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346472" y="395342"/>
            <a:ext cx="5595055" cy="712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dirty="0">
                <a:solidFill>
                  <a:srgbClr val="000000"/>
                </a:solidFill>
                <a:latin typeface="Press Start 2P" panose="00000500000000000000"/>
                <a:ea typeface="Press Start 2P" panose="00000500000000000000"/>
                <a:cs typeface="Press Start 2P" panose="00000500000000000000"/>
                <a:sym typeface="Press Start 2P" panose="00000500000000000000"/>
              </a:rPr>
              <a:t>IDEA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265607" y="-92186"/>
            <a:ext cx="2022392" cy="1814077"/>
          </a:xfrm>
          <a:custGeom>
            <a:avLst/>
            <a:gdLst/>
            <a:ahLst/>
            <a:cxnLst/>
            <a:rect l="l" t="t" r="r" b="b"/>
            <a:pathLst>
              <a:path w="2022392" h="1814077">
                <a:moveTo>
                  <a:pt x="0" y="0"/>
                </a:moveTo>
                <a:lnTo>
                  <a:pt x="2022392" y="0"/>
                </a:lnTo>
                <a:lnTo>
                  <a:pt x="2022392" y="1814077"/>
                </a:lnTo>
                <a:lnTo>
                  <a:pt x="0" y="1814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Freeform 3"/>
          <p:cNvSpPr/>
          <p:nvPr/>
        </p:nvSpPr>
        <p:spPr>
          <a:xfrm>
            <a:off x="5257800" y="9296400"/>
            <a:ext cx="4920107" cy="990600"/>
          </a:xfrm>
          <a:custGeom>
            <a:avLst/>
            <a:gdLst/>
            <a:ahLst/>
            <a:cxnLst/>
            <a:rect l="l" t="t" r="r" b="b"/>
            <a:pathLst>
              <a:path w="4920107" h="4920107">
                <a:moveTo>
                  <a:pt x="0" y="0"/>
                </a:moveTo>
                <a:lnTo>
                  <a:pt x="4920108" y="0"/>
                </a:lnTo>
                <a:lnTo>
                  <a:pt x="4920108" y="4920107"/>
                </a:lnTo>
                <a:lnTo>
                  <a:pt x="0" y="4920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3"/>
          <p:cNvSpPr/>
          <p:nvPr/>
        </p:nvSpPr>
        <p:spPr>
          <a:xfrm>
            <a:off x="10591800" y="9296400"/>
            <a:ext cx="4920107" cy="990600"/>
          </a:xfrm>
          <a:custGeom>
            <a:avLst/>
            <a:gdLst/>
            <a:ahLst/>
            <a:cxnLst/>
            <a:rect l="l" t="t" r="r" b="b"/>
            <a:pathLst>
              <a:path w="4920107" h="4920107">
                <a:moveTo>
                  <a:pt x="0" y="0"/>
                </a:moveTo>
                <a:lnTo>
                  <a:pt x="4920108" y="0"/>
                </a:lnTo>
                <a:lnTo>
                  <a:pt x="4920108" y="4920107"/>
                </a:lnTo>
                <a:lnTo>
                  <a:pt x="0" y="4920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6ABDC97-14C0-9B6F-466E-D5756D34131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80" r="1985"/>
          <a:stretch>
            <a:fillRect/>
          </a:stretch>
        </p:blipFill>
        <p:spPr>
          <a:xfrm>
            <a:off x="11049001" y="1576966"/>
            <a:ext cx="7086599" cy="71775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9296400"/>
            <a:ext cx="4920107" cy="990600"/>
          </a:xfrm>
          <a:custGeom>
            <a:avLst/>
            <a:gdLst/>
            <a:ahLst/>
            <a:cxnLst/>
            <a:rect l="l" t="t" r="r" b="b"/>
            <a:pathLst>
              <a:path w="4920107" h="4920107">
                <a:moveTo>
                  <a:pt x="0" y="0"/>
                </a:moveTo>
                <a:lnTo>
                  <a:pt x="4920108" y="0"/>
                </a:lnTo>
                <a:lnTo>
                  <a:pt x="4920108" y="4920107"/>
                </a:lnTo>
                <a:lnTo>
                  <a:pt x="0" y="49201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0" y="1071386"/>
            <a:ext cx="1046064" cy="1205687"/>
            <a:chOff x="2789535" y="1696536"/>
            <a:chExt cx="6350000" cy="6339840"/>
          </a:xfrm>
        </p:grpSpPr>
        <p:sp>
          <p:nvSpPr>
            <p:cNvPr id="6" name="Freeform 6"/>
            <p:cNvSpPr/>
            <p:nvPr/>
          </p:nvSpPr>
          <p:spPr>
            <a:xfrm>
              <a:off x="2789535" y="1696536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D966F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27039" y="0"/>
            <a:ext cx="1073103" cy="1071386"/>
            <a:chOff x="1282281" y="0"/>
            <a:chExt cx="6350000" cy="6339840"/>
          </a:xfrm>
        </p:grpSpPr>
        <p:sp>
          <p:nvSpPr>
            <p:cNvPr id="8" name="Freeform 8"/>
            <p:cNvSpPr/>
            <p:nvPr/>
          </p:nvSpPr>
          <p:spPr>
            <a:xfrm>
              <a:off x="1282281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B96BE9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622635" y="9486344"/>
            <a:ext cx="1665365" cy="800656"/>
            <a:chOff x="0" y="0"/>
            <a:chExt cx="660400" cy="317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8725B4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79375"/>
              <a:ext cx="660400" cy="238125"/>
            </a:xfrm>
            <a:prstGeom prst="rect">
              <a:avLst/>
            </a:prstGeom>
          </p:spPr>
          <p:txBody>
            <a:bodyPr lIns="116252" tIns="116252" rIns="116252" bIns="116252" rtlCol="0" anchor="ctr"/>
            <a:lstStyle/>
            <a:p>
              <a:pPr marL="0" lvl="0" indent="0" algn="ctr">
                <a:lnSpc>
                  <a:spcPts val="28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622635" y="8685688"/>
            <a:ext cx="1665365" cy="800656"/>
            <a:chOff x="0" y="0"/>
            <a:chExt cx="660400" cy="317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D966F4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79375"/>
              <a:ext cx="660400" cy="238125"/>
            </a:xfrm>
            <a:prstGeom prst="rect">
              <a:avLst/>
            </a:prstGeom>
          </p:spPr>
          <p:txBody>
            <a:bodyPr lIns="116252" tIns="116252" rIns="116252" bIns="116252" rtlCol="0" anchor="ctr"/>
            <a:lstStyle/>
            <a:p>
              <a:pPr marL="0" lvl="0" indent="0" algn="ctr">
                <a:lnSpc>
                  <a:spcPts val="286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19200" y="978115"/>
            <a:ext cx="11353800" cy="8508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l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Flutter </a:t>
            </a:r>
          </a:p>
          <a:p>
            <a:pPr lvl="0" algn="l">
              <a:lnSpc>
                <a:spcPts val="5380"/>
              </a:lnSpc>
            </a:pPr>
            <a:r>
              <a:rPr lang="en-US" sz="3600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For frontend (users can access in mobile devices).</a:t>
            </a:r>
          </a:p>
          <a:p>
            <a:pPr marL="571500" lvl="0" indent="-571500" algn="l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Node.js + Express</a:t>
            </a:r>
          </a:p>
          <a:p>
            <a:pPr lvl="0" algn="l">
              <a:lnSpc>
                <a:spcPts val="5380"/>
              </a:lnSpc>
            </a:pPr>
            <a:r>
              <a:rPr lang="en-US" sz="3600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Backend (Scalable and handles users account, streak)</a:t>
            </a:r>
          </a:p>
          <a:p>
            <a:pPr marL="571500" lvl="0" indent="-571500" algn="l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Firebase </a:t>
            </a:r>
            <a:r>
              <a:rPr lang="en-US" sz="3600" b="1" dirty="0" err="1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Firestore</a:t>
            </a:r>
            <a:endParaRPr lang="en-US" sz="3600" b="1" dirty="0">
              <a:solidFill>
                <a:srgbClr val="140C16"/>
              </a:solidFill>
              <a:latin typeface="Monterchi Serif" panose="02000503060000020004"/>
              <a:ea typeface="Monterchi Serif" panose="02000503060000020004"/>
              <a:cs typeface="Monterchi Serif" panose="02000503060000020004"/>
              <a:sym typeface="Monterchi Serif" panose="02000503060000020004"/>
            </a:endParaRPr>
          </a:p>
          <a:p>
            <a:pPr lvl="0" algn="l">
              <a:lnSpc>
                <a:spcPts val="5380"/>
              </a:lnSpc>
            </a:pPr>
            <a:r>
              <a:rPr lang="en-US" sz="3600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Database (Flexible and stores users info, logs, leaderboards).</a:t>
            </a:r>
          </a:p>
          <a:p>
            <a:pPr marL="571500" lvl="0" indent="-571500" algn="l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Tensor Flow</a:t>
            </a:r>
          </a:p>
          <a:p>
            <a:pPr lvl="0" algn="l">
              <a:lnSpc>
                <a:spcPts val="5380"/>
              </a:lnSpc>
            </a:pPr>
            <a:r>
              <a:rPr lang="en-US" sz="3600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AIML (Suggestions based on user behavior).</a:t>
            </a:r>
          </a:p>
          <a:p>
            <a:pPr marL="571500" lvl="0" indent="-571500" algn="l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Heroku</a:t>
            </a:r>
          </a:p>
          <a:p>
            <a:pPr lvl="0" algn="l">
              <a:lnSpc>
                <a:spcPts val="5380"/>
              </a:lnSpc>
            </a:pPr>
            <a:r>
              <a:rPr lang="en-US" sz="3600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Deployment(Keeps the app live &amp; can be accessible globally).</a:t>
            </a:r>
          </a:p>
          <a:p>
            <a:pPr marL="571500" lvl="0" indent="-571500" algn="l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Firebase Auth, Cloud, Storage, Analytics.</a:t>
            </a:r>
          </a:p>
          <a:p>
            <a:pPr lvl="0" algn="l">
              <a:lnSpc>
                <a:spcPts val="5380"/>
              </a:lnSpc>
            </a:pPr>
            <a:r>
              <a:rPr lang="en-US" sz="3600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Authentication, Notifications, Storage, Dashboards.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46472" y="339575"/>
            <a:ext cx="5595055" cy="567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dirty="0">
                <a:solidFill>
                  <a:srgbClr val="000000"/>
                </a:solidFill>
                <a:latin typeface="Press Start 2P" panose="00000500000000000000"/>
                <a:ea typeface="Press Start 2P" panose="00000500000000000000"/>
                <a:cs typeface="Press Start 2P" panose="00000500000000000000"/>
                <a:sym typeface="Press Start 2P" panose="00000500000000000000"/>
              </a:rPr>
              <a:t>TECH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265608" y="0"/>
            <a:ext cx="2022392" cy="1814077"/>
          </a:xfrm>
          <a:custGeom>
            <a:avLst/>
            <a:gdLst/>
            <a:ahLst/>
            <a:cxnLst/>
            <a:rect l="l" t="t" r="r" b="b"/>
            <a:pathLst>
              <a:path w="2022392" h="1814077">
                <a:moveTo>
                  <a:pt x="0" y="0"/>
                </a:moveTo>
                <a:lnTo>
                  <a:pt x="2022392" y="0"/>
                </a:lnTo>
                <a:lnTo>
                  <a:pt x="2022392" y="1814077"/>
                </a:lnTo>
                <a:lnTo>
                  <a:pt x="0" y="1814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0" name="Freeform 3"/>
          <p:cNvSpPr/>
          <p:nvPr/>
        </p:nvSpPr>
        <p:spPr>
          <a:xfrm>
            <a:off x="5257800" y="9296400"/>
            <a:ext cx="4920107" cy="990600"/>
          </a:xfrm>
          <a:custGeom>
            <a:avLst/>
            <a:gdLst/>
            <a:ahLst/>
            <a:cxnLst/>
            <a:rect l="l" t="t" r="r" b="b"/>
            <a:pathLst>
              <a:path w="4920107" h="4920107">
                <a:moveTo>
                  <a:pt x="0" y="0"/>
                </a:moveTo>
                <a:lnTo>
                  <a:pt x="4920108" y="0"/>
                </a:lnTo>
                <a:lnTo>
                  <a:pt x="4920108" y="4920107"/>
                </a:lnTo>
                <a:lnTo>
                  <a:pt x="0" y="49201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3"/>
          <p:cNvSpPr/>
          <p:nvPr/>
        </p:nvSpPr>
        <p:spPr>
          <a:xfrm>
            <a:off x="10591800" y="9296400"/>
            <a:ext cx="4920107" cy="990600"/>
          </a:xfrm>
          <a:custGeom>
            <a:avLst/>
            <a:gdLst/>
            <a:ahLst/>
            <a:cxnLst/>
            <a:rect l="l" t="t" r="r" b="b"/>
            <a:pathLst>
              <a:path w="4920107" h="4920107">
                <a:moveTo>
                  <a:pt x="0" y="0"/>
                </a:moveTo>
                <a:lnTo>
                  <a:pt x="4920108" y="0"/>
                </a:lnTo>
                <a:lnTo>
                  <a:pt x="4920108" y="4920107"/>
                </a:lnTo>
                <a:lnTo>
                  <a:pt x="0" y="49201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B6D743-B0B9-21A7-24C0-12B2FAE274B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251" t="6685" r="12445" b="3797"/>
          <a:stretch>
            <a:fillRect/>
          </a:stretch>
        </p:blipFill>
        <p:spPr>
          <a:xfrm>
            <a:off x="11553089" y="1674229"/>
            <a:ext cx="1498764" cy="16853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7EB41B-E827-889C-2476-A758A7EEF9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74969" y="3092484"/>
            <a:ext cx="2343477" cy="86689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3D15075-933F-CF0C-496B-5EA1266044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28940" y="4154304"/>
            <a:ext cx="1326354" cy="136220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C7E1141-C913-D4D9-49E7-1CF1693732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5030" y="2288373"/>
            <a:ext cx="2486372" cy="74305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6744357-3BCB-F844-3971-7148D9CBDF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40908" y="8042877"/>
            <a:ext cx="3000730" cy="100024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426F0A6-BE2F-FF16-3325-BA4AA758EC2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72081" b="4474"/>
          <a:stretch>
            <a:fillRect/>
          </a:stretch>
        </p:blipFill>
        <p:spPr>
          <a:xfrm>
            <a:off x="12662867" y="3547534"/>
            <a:ext cx="1732726" cy="146301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005255E-6DB9-245E-94AB-3455A4D320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65655" y="5232229"/>
            <a:ext cx="3032162" cy="8525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BE3185C-4F02-A5DC-5481-2B7F5052AB2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4735" t="5417" r="9597" b="2793"/>
          <a:stretch>
            <a:fillRect/>
          </a:stretch>
        </p:blipFill>
        <p:spPr>
          <a:xfrm>
            <a:off x="12883734" y="6325573"/>
            <a:ext cx="1418658" cy="148492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1B692AB-2795-48EE-6490-7E12BD12A37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1910" r="6932" b="1938"/>
          <a:stretch>
            <a:fillRect/>
          </a:stretch>
        </p:blipFill>
        <p:spPr>
          <a:xfrm>
            <a:off x="16574493" y="4415386"/>
            <a:ext cx="1303480" cy="145622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3BFFF21D-FF3C-5346-6E31-1A33957C21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941638" y="6326714"/>
            <a:ext cx="2609774" cy="17722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9296400"/>
            <a:ext cx="4920107" cy="990600"/>
          </a:xfrm>
          <a:custGeom>
            <a:avLst/>
            <a:gdLst/>
            <a:ahLst/>
            <a:cxnLst/>
            <a:rect l="l" t="t" r="r" b="b"/>
            <a:pathLst>
              <a:path w="4920107" h="4920107">
                <a:moveTo>
                  <a:pt x="0" y="0"/>
                </a:moveTo>
                <a:lnTo>
                  <a:pt x="4920108" y="0"/>
                </a:lnTo>
                <a:lnTo>
                  <a:pt x="4920108" y="4920107"/>
                </a:lnTo>
                <a:lnTo>
                  <a:pt x="0" y="4920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0" y="1071386"/>
            <a:ext cx="1046064" cy="1205687"/>
            <a:chOff x="2789535" y="1696536"/>
            <a:chExt cx="6350000" cy="6339840"/>
          </a:xfrm>
        </p:grpSpPr>
        <p:sp>
          <p:nvSpPr>
            <p:cNvPr id="6" name="Freeform 6"/>
            <p:cNvSpPr/>
            <p:nvPr/>
          </p:nvSpPr>
          <p:spPr>
            <a:xfrm>
              <a:off x="2789535" y="1696536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D966F4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-27039" y="0"/>
            <a:ext cx="1073103" cy="1071386"/>
            <a:chOff x="1282281" y="0"/>
            <a:chExt cx="6350000" cy="6339840"/>
          </a:xfrm>
        </p:grpSpPr>
        <p:sp>
          <p:nvSpPr>
            <p:cNvPr id="8" name="Freeform 8"/>
            <p:cNvSpPr/>
            <p:nvPr/>
          </p:nvSpPr>
          <p:spPr>
            <a:xfrm>
              <a:off x="1282281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B96BE9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6622635" y="9486344"/>
            <a:ext cx="1665365" cy="800656"/>
            <a:chOff x="0" y="0"/>
            <a:chExt cx="660400" cy="317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8725B4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79375"/>
              <a:ext cx="660400" cy="238125"/>
            </a:xfrm>
            <a:prstGeom prst="rect">
              <a:avLst/>
            </a:prstGeom>
          </p:spPr>
          <p:txBody>
            <a:bodyPr lIns="116252" tIns="116252" rIns="116252" bIns="116252" rtlCol="0" anchor="ctr"/>
            <a:lstStyle/>
            <a:p>
              <a:pPr marL="0" lvl="0" indent="0" algn="ctr">
                <a:lnSpc>
                  <a:spcPts val="28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622635" y="8685688"/>
            <a:ext cx="1665365" cy="800656"/>
            <a:chOff x="0" y="0"/>
            <a:chExt cx="660400" cy="317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D966F4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79375"/>
              <a:ext cx="660400" cy="238125"/>
            </a:xfrm>
            <a:prstGeom prst="rect">
              <a:avLst/>
            </a:prstGeom>
          </p:spPr>
          <p:txBody>
            <a:bodyPr lIns="116252" tIns="116252" rIns="116252" bIns="116252" rtlCol="0" anchor="ctr"/>
            <a:lstStyle/>
            <a:p>
              <a:pPr marL="0" lvl="0" indent="0" algn="ctr">
                <a:lnSpc>
                  <a:spcPts val="286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12737" y="2014241"/>
            <a:ext cx="16142580" cy="68737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/>
              <a:t>Large Market Potential:</a:t>
            </a:r>
            <a:r>
              <a:rPr lang="en-US" sz="3600" dirty="0"/>
              <a:t> Habit-building, fitness, wellness, and productivity apps are a rapidly growing global market.</a:t>
            </a:r>
          </a:p>
          <a:p>
            <a:pPr marL="571500" lvl="0" indent="-571500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/>
              <a:t>Wide User Base:</a:t>
            </a:r>
            <a:r>
              <a:rPr lang="en-US" sz="3600" dirty="0"/>
              <a:t> Suitable for students, professionals, fitness enthusiasts, and anyone aiming to develop positive routines.</a:t>
            </a:r>
          </a:p>
          <a:p>
            <a:pPr marL="571500" lvl="0" indent="-571500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/>
              <a:t>Social &amp; Gamified Engagement:</a:t>
            </a:r>
            <a:r>
              <a:rPr lang="en-US" sz="3600" dirty="0"/>
              <a:t> Community-driven approach increases user retention compared to traditional habit apps.</a:t>
            </a:r>
          </a:p>
          <a:p>
            <a:pPr marL="571500" lvl="0" indent="-571500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/>
              <a:t>Scalable Platform:</a:t>
            </a:r>
            <a:r>
              <a:rPr lang="en-US" sz="3600" dirty="0"/>
              <a:t> Can expand from local groups to global communities.</a:t>
            </a:r>
          </a:p>
          <a:p>
            <a:pPr marL="571500" lvl="0" indent="-571500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/>
              <a:t>Revenue:</a:t>
            </a:r>
            <a:r>
              <a:rPr lang="en-US" sz="3600" dirty="0"/>
              <a:t> Premium features and partnerships with education platforms.</a:t>
            </a:r>
          </a:p>
          <a:p>
            <a:pPr marL="571500" lvl="0" indent="-571500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/>
              <a:t>Social Impact:</a:t>
            </a:r>
            <a:r>
              <a:rPr lang="en-US" sz="3600" dirty="0"/>
              <a:t> Promotes healthy habits, productivity, and mental well-being through social accountability.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64346" y="838704"/>
            <a:ext cx="13759307" cy="5674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 dirty="0">
                <a:solidFill>
                  <a:srgbClr val="000000"/>
                </a:solidFill>
                <a:latin typeface="Press Start 2P" panose="00000500000000000000"/>
                <a:ea typeface="Press Start 2P" panose="00000500000000000000"/>
                <a:cs typeface="Press Start 2P" panose="00000500000000000000"/>
                <a:sym typeface="Press Start 2P" panose="00000500000000000000"/>
              </a:rPr>
              <a:t>BUSINESS SCOPE &amp; IMPACT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391701" y="0"/>
            <a:ext cx="2022392" cy="1814077"/>
          </a:xfrm>
          <a:custGeom>
            <a:avLst/>
            <a:gdLst/>
            <a:ahLst/>
            <a:cxnLst/>
            <a:rect l="l" t="t" r="r" b="b"/>
            <a:pathLst>
              <a:path w="2022392" h="1814077">
                <a:moveTo>
                  <a:pt x="0" y="0"/>
                </a:moveTo>
                <a:lnTo>
                  <a:pt x="2022392" y="0"/>
                </a:lnTo>
                <a:lnTo>
                  <a:pt x="2022392" y="1814077"/>
                </a:lnTo>
                <a:lnTo>
                  <a:pt x="0" y="1814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Freeform 3"/>
          <p:cNvSpPr/>
          <p:nvPr/>
        </p:nvSpPr>
        <p:spPr>
          <a:xfrm>
            <a:off x="5257800" y="9296400"/>
            <a:ext cx="4920107" cy="990600"/>
          </a:xfrm>
          <a:custGeom>
            <a:avLst/>
            <a:gdLst/>
            <a:ahLst/>
            <a:cxnLst/>
            <a:rect l="l" t="t" r="r" b="b"/>
            <a:pathLst>
              <a:path w="4920107" h="4920107">
                <a:moveTo>
                  <a:pt x="0" y="0"/>
                </a:moveTo>
                <a:lnTo>
                  <a:pt x="4920108" y="0"/>
                </a:lnTo>
                <a:lnTo>
                  <a:pt x="4920108" y="4920107"/>
                </a:lnTo>
                <a:lnTo>
                  <a:pt x="0" y="4920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Freeform 3"/>
          <p:cNvSpPr/>
          <p:nvPr/>
        </p:nvSpPr>
        <p:spPr>
          <a:xfrm>
            <a:off x="10591800" y="9296400"/>
            <a:ext cx="4920107" cy="990600"/>
          </a:xfrm>
          <a:custGeom>
            <a:avLst/>
            <a:gdLst/>
            <a:ahLst/>
            <a:cxnLst/>
            <a:rect l="l" t="t" r="r" b="b"/>
            <a:pathLst>
              <a:path w="4920107" h="4920107">
                <a:moveTo>
                  <a:pt x="0" y="0"/>
                </a:moveTo>
                <a:lnTo>
                  <a:pt x="4920108" y="0"/>
                </a:lnTo>
                <a:lnTo>
                  <a:pt x="4920108" y="4920107"/>
                </a:lnTo>
                <a:lnTo>
                  <a:pt x="0" y="4920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071FBC-BD52-D635-1BE5-D4792DD30006}"/>
              </a:ext>
            </a:extLst>
          </p:cNvPr>
          <p:cNvSpPr/>
          <p:nvPr/>
        </p:nvSpPr>
        <p:spPr>
          <a:xfrm>
            <a:off x="1371600" y="1737877"/>
            <a:ext cx="8153400" cy="80538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2"/>
          <p:cNvSpPr txBox="1"/>
          <p:nvPr/>
        </p:nvSpPr>
        <p:spPr>
          <a:xfrm>
            <a:off x="0" y="512683"/>
            <a:ext cx="18288000" cy="71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ress Start 2P" panose="00000500000000000000"/>
                <a:ea typeface="Press Start 2P" panose="00000500000000000000"/>
                <a:cs typeface="Press Start 2P" panose="00000500000000000000"/>
                <a:sym typeface="Press Start 2P" panose="00000500000000000000"/>
              </a:rPr>
              <a:t>Challenges &amp; Future Scope</a:t>
            </a:r>
          </a:p>
        </p:txBody>
      </p:sp>
      <p:sp>
        <p:nvSpPr>
          <p:cNvPr id="3" name="Freeform 3"/>
          <p:cNvSpPr/>
          <p:nvPr/>
        </p:nvSpPr>
        <p:spPr>
          <a:xfrm rot="-5400000">
            <a:off x="-4648200" y="4648200"/>
            <a:ext cx="10287000" cy="990600"/>
          </a:xfrm>
          <a:custGeom>
            <a:avLst/>
            <a:gdLst/>
            <a:ahLst/>
            <a:cxnLst/>
            <a:rect l="l" t="t" r="r" b="b"/>
            <a:pathLst>
              <a:path w="10287000" h="3852949">
                <a:moveTo>
                  <a:pt x="0" y="0"/>
                </a:moveTo>
                <a:lnTo>
                  <a:pt x="10287000" y="0"/>
                </a:lnTo>
                <a:lnTo>
                  <a:pt x="10287000" y="3852950"/>
                </a:lnTo>
                <a:lnTo>
                  <a:pt x="0" y="3852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65608" y="0"/>
            <a:ext cx="2022392" cy="1814077"/>
          </a:xfrm>
          <a:custGeom>
            <a:avLst/>
            <a:gdLst/>
            <a:ahLst/>
            <a:cxnLst/>
            <a:rect l="l" t="t" r="r" b="b"/>
            <a:pathLst>
              <a:path w="2022392" h="1814077">
                <a:moveTo>
                  <a:pt x="0" y="0"/>
                </a:moveTo>
                <a:lnTo>
                  <a:pt x="2022392" y="0"/>
                </a:lnTo>
                <a:lnTo>
                  <a:pt x="2022392" y="1814077"/>
                </a:lnTo>
                <a:lnTo>
                  <a:pt x="0" y="1814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1600200" y="1955079"/>
            <a:ext cx="7772400" cy="7658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>
              <a:lnSpc>
                <a:spcPts val="5380"/>
              </a:lnSpc>
            </a:pPr>
            <a:r>
              <a:rPr lang="en-US" sz="4000" b="1" u="sng" dirty="0">
                <a:solidFill>
                  <a:srgbClr val="140C16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Challenges:</a:t>
            </a:r>
          </a:p>
          <a:p>
            <a:pPr marL="571500" lvl="0" indent="-571500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Keeping users </a:t>
            </a:r>
            <a:r>
              <a:rPr lang="en-US" sz="3600" b="1" dirty="0"/>
              <a:t>consistently engaged </a:t>
            </a:r>
            <a:r>
              <a:rPr lang="en-US" sz="3600" dirty="0"/>
              <a:t>over </a:t>
            </a:r>
            <a:r>
              <a:rPr lang="en-US" sz="3600" b="1" dirty="0"/>
              <a:t>long periods</a:t>
            </a:r>
            <a:r>
              <a:rPr lang="en-US" sz="3600" dirty="0"/>
              <a:t>.</a:t>
            </a:r>
          </a:p>
          <a:p>
            <a:pPr marL="571500" lvl="0" indent="-571500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Ensuring </a:t>
            </a:r>
            <a:r>
              <a:rPr lang="en-US" sz="3600" b="1" dirty="0"/>
              <a:t>privacy and security </a:t>
            </a:r>
            <a:r>
              <a:rPr lang="en-US" sz="3600" dirty="0"/>
              <a:t>of user data.</a:t>
            </a:r>
          </a:p>
          <a:p>
            <a:pPr marL="571500" lvl="0" indent="-571500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/>
              <a:t>Balancing gamification</a:t>
            </a:r>
            <a:r>
              <a:rPr lang="en-US" sz="3600" dirty="0"/>
              <a:t> so it motivates without creating stress.</a:t>
            </a:r>
          </a:p>
          <a:p>
            <a:pPr marL="571500" lvl="0" indent="-571500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dirty="0"/>
              <a:t>Preventing </a:t>
            </a:r>
            <a:r>
              <a:rPr lang="en-US" sz="3600" b="1" dirty="0"/>
              <a:t>fake proof submissions </a:t>
            </a:r>
            <a:r>
              <a:rPr lang="en-US" sz="3600" dirty="0"/>
              <a:t>or cheating streaks.</a:t>
            </a:r>
          </a:p>
          <a:p>
            <a:pPr marL="571500" lvl="0" indent="-571500">
              <a:lnSpc>
                <a:spcPts val="5380"/>
              </a:lnSpc>
              <a:buFont typeface="Wingdings" panose="05000000000000000000" pitchFamily="2" charset="2"/>
              <a:buChar char="Ø"/>
            </a:pPr>
            <a:r>
              <a:rPr lang="en-US" sz="3600" b="1" dirty="0"/>
              <a:t>Scaling squads </a:t>
            </a:r>
            <a:r>
              <a:rPr lang="en-US" sz="3600" dirty="0"/>
              <a:t>and </a:t>
            </a:r>
            <a:r>
              <a:rPr lang="en-US" sz="3600" b="1" dirty="0"/>
              <a:t>leaderboards</a:t>
            </a:r>
            <a:r>
              <a:rPr lang="en-US" sz="3600" dirty="0"/>
              <a:t> for millions of users.</a:t>
            </a:r>
            <a:endParaRPr lang="en-US" sz="3600" dirty="0">
              <a:solidFill>
                <a:srgbClr val="140C16"/>
              </a:solidFill>
              <a:latin typeface="Monterchi Serif" panose="02000503060000020004"/>
              <a:ea typeface="Monterchi Serif" panose="02000503060000020004"/>
              <a:cs typeface="Monterchi Serif" panose="02000503060000020004"/>
              <a:sym typeface="Monterchi Serif" panose="020005030600000200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272264-945C-B6F7-7EE4-8B474BD3857F}"/>
              </a:ext>
            </a:extLst>
          </p:cNvPr>
          <p:cNvSpPr/>
          <p:nvPr/>
        </p:nvSpPr>
        <p:spPr>
          <a:xfrm>
            <a:off x="9751142" y="1737877"/>
            <a:ext cx="8153400" cy="80538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>
              <a:lnSpc>
                <a:spcPts val="5380"/>
              </a:lnSpc>
            </a:pPr>
            <a:endParaRPr lang="en-IN" sz="3600" dirty="0"/>
          </a:p>
          <a:p>
            <a:pPr lvl="0">
              <a:lnSpc>
                <a:spcPts val="5380"/>
              </a:lnSpc>
            </a:pPr>
            <a:endParaRPr lang="en-IN" sz="3600" dirty="0"/>
          </a:p>
          <a:p>
            <a:pPr lvl="0">
              <a:lnSpc>
                <a:spcPts val="5380"/>
              </a:lnSpc>
            </a:pPr>
            <a:endParaRPr lang="en-IN" sz="3600" dirty="0"/>
          </a:p>
          <a:p>
            <a:pPr lvl="0">
              <a:lnSpc>
                <a:spcPts val="5380"/>
              </a:lnSpc>
            </a:pPr>
            <a:endParaRPr lang="en-IN" sz="3600" dirty="0"/>
          </a:p>
          <a:p>
            <a:pPr lvl="0">
              <a:lnSpc>
                <a:spcPts val="5380"/>
              </a:lnSpc>
            </a:pPr>
            <a:endParaRPr lang="en-IN" sz="3600" dirty="0"/>
          </a:p>
          <a:p>
            <a:pPr lvl="0">
              <a:lnSpc>
                <a:spcPts val="5380"/>
              </a:lnSpc>
            </a:pPr>
            <a:endParaRPr lang="en-IN" sz="3600" dirty="0"/>
          </a:p>
          <a:p>
            <a:pPr lvl="0">
              <a:lnSpc>
                <a:spcPts val="5380"/>
              </a:lnSpc>
            </a:pPr>
            <a:endParaRPr lang="en-IN" sz="3600" dirty="0"/>
          </a:p>
          <a:p>
            <a:pPr lvl="0">
              <a:lnSpc>
                <a:spcPts val="5380"/>
              </a:lnSpc>
            </a:pPr>
            <a:endParaRPr lang="en-IN" sz="3600" dirty="0"/>
          </a:p>
          <a:p>
            <a:pPr lvl="0">
              <a:lnSpc>
                <a:spcPts val="5380"/>
              </a:lnSpc>
            </a:pPr>
            <a:endParaRPr lang="en-IN" sz="3600" dirty="0"/>
          </a:p>
          <a:p>
            <a:pPr lvl="0">
              <a:lnSpc>
                <a:spcPts val="5380"/>
              </a:lnSpc>
            </a:pPr>
            <a:endParaRPr lang="en-IN" sz="3600" dirty="0"/>
          </a:p>
          <a:p>
            <a:pPr lvl="0">
              <a:lnSpc>
                <a:spcPts val="5380"/>
              </a:lnSpc>
            </a:pPr>
            <a:endParaRPr lang="en-IN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EE48B0-D311-A43F-11DC-0A7D6056B802}"/>
              </a:ext>
            </a:extLst>
          </p:cNvPr>
          <p:cNvSpPr txBox="1"/>
          <p:nvPr/>
        </p:nvSpPr>
        <p:spPr>
          <a:xfrm>
            <a:off x="9906000" y="1971056"/>
            <a:ext cx="7924800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/>
              <a:t>Future</a:t>
            </a:r>
            <a:r>
              <a:rPr lang="en-IN" b="1" u="sng" dirty="0"/>
              <a:t> </a:t>
            </a:r>
            <a:r>
              <a:rPr lang="en-IN" sz="4000" b="1" u="sng" dirty="0"/>
              <a:t>Scope:</a:t>
            </a:r>
          </a:p>
          <a:p>
            <a:endParaRPr lang="en-IN" sz="600" b="1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Integrate </a:t>
            </a:r>
            <a:r>
              <a:rPr lang="en-US" sz="3600" b="1" dirty="0"/>
              <a:t>AI-based habit recommendations</a:t>
            </a:r>
            <a:r>
              <a:rPr lang="en-US" sz="3600" dirty="0"/>
              <a:t> personalized for each user.</a:t>
            </a:r>
          </a:p>
          <a:p>
            <a:endParaRPr lang="en-US" sz="6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Introduce </a:t>
            </a:r>
            <a:r>
              <a:rPr lang="en-US" sz="3600" b="1" dirty="0"/>
              <a:t>corporate wellness programs</a:t>
            </a:r>
            <a:r>
              <a:rPr lang="en-US" sz="3600" dirty="0"/>
              <a:t> and team challenges.</a:t>
            </a:r>
          </a:p>
          <a:p>
            <a:endParaRPr lang="en-US" sz="6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Expand to </a:t>
            </a:r>
            <a:r>
              <a:rPr lang="en-US" sz="3600" b="1" dirty="0"/>
              <a:t>global communities</a:t>
            </a:r>
            <a:r>
              <a:rPr lang="en-US" sz="3600" dirty="0"/>
              <a:t> with multi-language support.</a:t>
            </a:r>
          </a:p>
          <a:p>
            <a:endParaRPr lang="en-US" sz="6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Offer </a:t>
            </a:r>
            <a:r>
              <a:rPr lang="en-US" sz="3600" b="1" dirty="0"/>
              <a:t>advanced analytics</a:t>
            </a:r>
            <a:r>
              <a:rPr lang="en-US" sz="3600" dirty="0"/>
              <a:t> for users and squads to track progress and trends.</a:t>
            </a:r>
          </a:p>
          <a:p>
            <a:endParaRPr lang="en-US" sz="600" dirty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/>
              <a:t>Add </a:t>
            </a:r>
            <a:r>
              <a:rPr lang="en-US" sz="3600" b="1" dirty="0"/>
              <a:t>wearable device integration</a:t>
            </a:r>
            <a:r>
              <a:rPr lang="en-US" sz="3600" dirty="0"/>
              <a:t> (smartwatch, fitness tracker) for automatic tracking.</a:t>
            </a:r>
            <a:endParaRPr lang="en-IN" sz="3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2382602" y="7013829"/>
            <a:ext cx="5905398" cy="3273171"/>
          </a:xfrm>
          <a:custGeom>
            <a:avLst/>
            <a:gdLst/>
            <a:ahLst/>
            <a:cxnLst/>
            <a:rect l="l" t="t" r="r" b="b"/>
            <a:pathLst>
              <a:path w="5905398" h="3273171">
                <a:moveTo>
                  <a:pt x="0" y="0"/>
                </a:moveTo>
                <a:lnTo>
                  <a:pt x="5905398" y="0"/>
                </a:lnTo>
                <a:lnTo>
                  <a:pt x="5905398" y="3273171"/>
                </a:lnTo>
                <a:lnTo>
                  <a:pt x="0" y="3273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>
            <a:off x="0" y="6708240"/>
            <a:ext cx="6446160" cy="3572898"/>
          </a:xfrm>
          <a:custGeom>
            <a:avLst/>
            <a:gdLst/>
            <a:ahLst/>
            <a:cxnLst/>
            <a:rect l="l" t="t" r="r" b="b"/>
            <a:pathLst>
              <a:path w="6446160" h="3572898">
                <a:moveTo>
                  <a:pt x="6446160" y="0"/>
                </a:moveTo>
                <a:lnTo>
                  <a:pt x="0" y="0"/>
                </a:lnTo>
                <a:lnTo>
                  <a:pt x="0" y="3572898"/>
                </a:lnTo>
                <a:lnTo>
                  <a:pt x="6446160" y="3572898"/>
                </a:lnTo>
                <a:lnTo>
                  <a:pt x="64461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2700000">
            <a:off x="2028844" y="3895364"/>
            <a:ext cx="365978" cy="365978"/>
            <a:chOff x="0" y="0"/>
            <a:chExt cx="83671" cy="8367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B96BE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83671" cy="131296"/>
            </a:xfrm>
            <a:prstGeom prst="rect">
              <a:avLst/>
            </a:prstGeom>
          </p:spPr>
          <p:txBody>
            <a:bodyPr lIns="58522" tIns="58522" rIns="58522" bIns="58522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2700000">
            <a:off x="16354705" y="3895364"/>
            <a:ext cx="365978" cy="365978"/>
            <a:chOff x="0" y="0"/>
            <a:chExt cx="83671" cy="836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671" cy="83671"/>
            </a:xfrm>
            <a:custGeom>
              <a:avLst/>
              <a:gdLst/>
              <a:ahLst/>
              <a:cxnLst/>
              <a:rect l="l" t="t" r="r" b="b"/>
              <a:pathLst>
                <a:path w="83671" h="83671">
                  <a:moveTo>
                    <a:pt x="0" y="0"/>
                  </a:moveTo>
                  <a:lnTo>
                    <a:pt x="83671" y="0"/>
                  </a:lnTo>
                  <a:lnTo>
                    <a:pt x="83671" y="83671"/>
                  </a:lnTo>
                  <a:lnTo>
                    <a:pt x="0" y="83671"/>
                  </a:lnTo>
                  <a:close/>
                </a:path>
              </a:pathLst>
            </a:custGeom>
            <a:solidFill>
              <a:srgbClr val="B96BE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3671" cy="131296"/>
            </a:xfrm>
            <a:prstGeom prst="rect">
              <a:avLst/>
            </a:prstGeom>
          </p:spPr>
          <p:txBody>
            <a:bodyPr lIns="58522" tIns="58522" rIns="58522" bIns="58522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804228" y="3408369"/>
            <a:ext cx="14813605" cy="120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875"/>
              </a:lnSpc>
              <a:spcBef>
                <a:spcPct val="0"/>
              </a:spcBef>
            </a:pPr>
            <a:r>
              <a:rPr lang="en-US" sz="7055">
                <a:solidFill>
                  <a:srgbClr val="000000"/>
                </a:solidFill>
                <a:latin typeface="Press Start 2P" panose="00000500000000000000"/>
                <a:ea typeface="Press Start 2P" panose="00000500000000000000"/>
                <a:cs typeface="Press Start 2P" panose="00000500000000000000"/>
                <a:sym typeface="Press Start 2P" panose="00000500000000000000"/>
              </a:rPr>
              <a:t>THANK YOU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250266" y="9234487"/>
            <a:ext cx="1921529" cy="47625"/>
            <a:chOff x="0" y="0"/>
            <a:chExt cx="506082" cy="125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6082" cy="12543"/>
            </a:xfrm>
            <a:custGeom>
              <a:avLst/>
              <a:gdLst/>
              <a:ahLst/>
              <a:cxnLst/>
              <a:rect l="l" t="t" r="r" b="b"/>
              <a:pathLst>
                <a:path w="506082" h="12543">
                  <a:moveTo>
                    <a:pt x="0" y="0"/>
                  </a:moveTo>
                  <a:lnTo>
                    <a:pt x="506082" y="0"/>
                  </a:lnTo>
                  <a:lnTo>
                    <a:pt x="506082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8548CE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06082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6878787" y="5229709"/>
            <a:ext cx="4530425" cy="4063772"/>
          </a:xfrm>
          <a:custGeom>
            <a:avLst/>
            <a:gdLst/>
            <a:ahLst/>
            <a:cxnLst/>
            <a:rect l="l" t="t" r="r" b="b"/>
            <a:pathLst>
              <a:path w="4530425" h="4063772">
                <a:moveTo>
                  <a:pt x="0" y="0"/>
                </a:moveTo>
                <a:lnTo>
                  <a:pt x="4530426" y="0"/>
                </a:lnTo>
                <a:lnTo>
                  <a:pt x="4530426" y="4063772"/>
                </a:lnTo>
                <a:lnTo>
                  <a:pt x="0" y="40637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"/>
            <a:ext cx="6761432" cy="6016930"/>
          </a:xfrm>
          <a:custGeom>
            <a:avLst/>
            <a:gdLst/>
            <a:ahLst/>
            <a:cxnLst/>
            <a:rect l="l" t="t" r="r" b="b"/>
            <a:pathLst>
              <a:path w="7486364" h="7486364">
                <a:moveTo>
                  <a:pt x="0" y="0"/>
                </a:moveTo>
                <a:lnTo>
                  <a:pt x="7486364" y="0"/>
                </a:lnTo>
                <a:lnTo>
                  <a:pt x="7486364" y="7486363"/>
                </a:lnTo>
                <a:lnTo>
                  <a:pt x="0" y="7486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00818" y="-1"/>
            <a:ext cx="7486364" cy="6016929"/>
          </a:xfrm>
          <a:custGeom>
            <a:avLst/>
            <a:gdLst/>
            <a:ahLst/>
            <a:cxnLst/>
            <a:rect l="l" t="t" r="r" b="b"/>
            <a:pathLst>
              <a:path w="7486364" h="7486364">
                <a:moveTo>
                  <a:pt x="0" y="0"/>
                </a:moveTo>
                <a:lnTo>
                  <a:pt x="7486364" y="0"/>
                </a:lnTo>
                <a:lnTo>
                  <a:pt x="7486364" y="7486363"/>
                </a:lnTo>
                <a:lnTo>
                  <a:pt x="0" y="7486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728276" y="70325"/>
            <a:ext cx="6559724" cy="5946603"/>
          </a:xfrm>
          <a:custGeom>
            <a:avLst/>
            <a:gdLst/>
            <a:ahLst/>
            <a:cxnLst/>
            <a:rect l="l" t="t" r="r" b="b"/>
            <a:pathLst>
              <a:path w="7486364" h="7486364">
                <a:moveTo>
                  <a:pt x="0" y="0"/>
                </a:moveTo>
                <a:lnTo>
                  <a:pt x="7486364" y="0"/>
                </a:lnTo>
                <a:lnTo>
                  <a:pt x="7486364" y="7486363"/>
                </a:lnTo>
                <a:lnTo>
                  <a:pt x="0" y="7486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65881" y="1709968"/>
            <a:ext cx="1335623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20"/>
              </a:lnSpc>
              <a:spcBef>
                <a:spcPct val="0"/>
              </a:spcBef>
            </a:pPr>
            <a:r>
              <a:rPr lang="en-US" sz="5020">
                <a:solidFill>
                  <a:srgbClr val="140C16"/>
                </a:solidFill>
                <a:latin typeface="The Youngest Serif" panose="00000500000000000000"/>
                <a:ea typeface="The Youngest Serif" panose="00000500000000000000"/>
                <a:cs typeface="The Youngest Serif" panose="00000500000000000000"/>
                <a:sym typeface="The Youngest Serif" panose="00000500000000000000"/>
              </a:rPr>
              <a:t>Technology Stack: Frontend, Backend, Database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6543818"/>
            <a:ext cx="6761432" cy="3743182"/>
          </a:xfrm>
          <a:custGeom>
            <a:avLst/>
            <a:gdLst/>
            <a:ahLst/>
            <a:cxnLst/>
            <a:rect l="l" t="t" r="r" b="b"/>
            <a:pathLst>
              <a:path w="7486364" h="7486364">
                <a:moveTo>
                  <a:pt x="0" y="0"/>
                </a:moveTo>
                <a:lnTo>
                  <a:pt x="7486364" y="0"/>
                </a:lnTo>
                <a:lnTo>
                  <a:pt x="7486364" y="7486364"/>
                </a:lnTo>
                <a:lnTo>
                  <a:pt x="0" y="7486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400818" y="6486187"/>
            <a:ext cx="7486364" cy="3800813"/>
          </a:xfrm>
          <a:custGeom>
            <a:avLst/>
            <a:gdLst/>
            <a:ahLst/>
            <a:cxnLst/>
            <a:rect l="l" t="t" r="r" b="b"/>
            <a:pathLst>
              <a:path w="7486364" h="7486364">
                <a:moveTo>
                  <a:pt x="0" y="0"/>
                </a:moveTo>
                <a:lnTo>
                  <a:pt x="7486364" y="0"/>
                </a:lnTo>
                <a:lnTo>
                  <a:pt x="7486364" y="7486364"/>
                </a:lnTo>
                <a:lnTo>
                  <a:pt x="0" y="7486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728276" y="6445553"/>
            <a:ext cx="6559724" cy="3841447"/>
          </a:xfrm>
          <a:custGeom>
            <a:avLst/>
            <a:gdLst/>
            <a:ahLst/>
            <a:cxnLst/>
            <a:rect l="l" t="t" r="r" b="b"/>
            <a:pathLst>
              <a:path w="7486364" h="7486364">
                <a:moveTo>
                  <a:pt x="0" y="0"/>
                </a:moveTo>
                <a:lnTo>
                  <a:pt x="7486364" y="0"/>
                </a:lnTo>
                <a:lnTo>
                  <a:pt x="7486364" y="7486364"/>
                </a:lnTo>
                <a:lnTo>
                  <a:pt x="0" y="7486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63691" y="2831692"/>
            <a:ext cx="15616285" cy="712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000000"/>
                </a:solidFill>
                <a:latin typeface="Press Start 2P" panose="00000500000000000000"/>
                <a:ea typeface="Press Start 2P" panose="00000500000000000000"/>
                <a:cs typeface="Press Start 2P" panose="00000500000000000000"/>
                <a:sym typeface="Press Start 2P" panose="00000500000000000000"/>
              </a:rPr>
              <a:t>Your paragraph text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487454" y="1156657"/>
            <a:ext cx="15616285" cy="80440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Box 11"/>
          <p:cNvSpPr txBox="1"/>
          <p:nvPr/>
        </p:nvSpPr>
        <p:spPr>
          <a:xfrm>
            <a:off x="151597" y="1281343"/>
            <a:ext cx="1828800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000000"/>
                </a:solidFill>
                <a:latin typeface="Press Start 2P" panose="00000500000000000000"/>
                <a:ea typeface="Press Start 2P" panose="00000500000000000000"/>
                <a:cs typeface="Press Start 2P" panose="00000500000000000000"/>
                <a:sym typeface="Press Start 2P" panose="00000500000000000000"/>
              </a:rPr>
              <a:t>Instructions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06130" y="2822167"/>
            <a:ext cx="14675740" cy="479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0440" lvl="1" indent="-490220" algn="just">
              <a:lnSpc>
                <a:spcPts val="6355"/>
              </a:lnSpc>
              <a:buFont typeface="Arial" panose="020B0604020202020204"/>
              <a:buChar char="•"/>
            </a:pPr>
            <a:r>
              <a:rPr lang="en-US" sz="4540" dirty="0">
                <a:solidFill>
                  <a:srgbClr val="000000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The presentation should contain no more than six (6) slides excluding Instructions. </a:t>
            </a:r>
          </a:p>
          <a:p>
            <a:pPr marL="980440" lvl="1" indent="-490220" algn="just">
              <a:lnSpc>
                <a:spcPts val="6355"/>
              </a:lnSpc>
              <a:buFont typeface="Arial" panose="020B0604020202020204"/>
              <a:buChar char="•"/>
            </a:pPr>
            <a:r>
              <a:rPr lang="en-US" sz="4540" dirty="0">
                <a:solidFill>
                  <a:srgbClr val="000000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Please stick to the template given for the PPT.</a:t>
            </a:r>
          </a:p>
          <a:p>
            <a:pPr marL="980440" lvl="1" indent="-490220" algn="just">
              <a:lnSpc>
                <a:spcPts val="6355"/>
              </a:lnSpc>
              <a:buFont typeface="Arial" panose="020B0604020202020204"/>
              <a:buChar char="•"/>
            </a:pPr>
            <a:r>
              <a:rPr lang="en-US" sz="4540" dirty="0">
                <a:solidFill>
                  <a:srgbClr val="000000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Save the presentation with your Team Name.</a:t>
            </a:r>
          </a:p>
          <a:p>
            <a:pPr marL="980440" lvl="1" indent="-490220" algn="just">
              <a:lnSpc>
                <a:spcPts val="6355"/>
              </a:lnSpc>
              <a:buFont typeface="Arial" panose="020B0604020202020204"/>
              <a:buChar char="•"/>
            </a:pPr>
            <a:r>
              <a:rPr lang="en-US" sz="4540" dirty="0">
                <a:solidFill>
                  <a:srgbClr val="000000"/>
                </a:solidFill>
                <a:latin typeface="Monterchi Serif" panose="02000503060000020004"/>
                <a:ea typeface="Monterchi Serif" panose="02000503060000020004"/>
                <a:cs typeface="Monterchi Serif" panose="02000503060000020004"/>
                <a:sym typeface="Monterchi Serif" panose="02000503060000020004"/>
              </a:rPr>
              <a:t>Save the presentation file in PDF format, and upload it to Unstop. No other formats are encouraged.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425</Words>
  <Application>Microsoft Office PowerPoint</Application>
  <PresentationFormat>Custom</PresentationFormat>
  <Paragraphs>65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Monterchi Serif</vt:lpstr>
      <vt:lpstr>The Youngest Serif</vt:lpstr>
      <vt:lpstr>Wingdings</vt:lpstr>
      <vt:lpstr>Arial</vt:lpstr>
      <vt:lpstr>Stencil</vt:lpstr>
      <vt:lpstr>Press Start 2P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Codenovate PPT Presentation Template</dc:title>
  <dc:creator>Greeshma</dc:creator>
  <dc:description>Presentation - Hackathon Presentation Template</dc:description>
  <cp:lastModifiedBy>RAJAROHAN REDDY VAIDYULA</cp:lastModifiedBy>
  <cp:revision>3</cp:revision>
  <dcterms:created xsi:type="dcterms:W3CDTF">2006-08-16T00:00:00Z</dcterms:created>
  <dcterms:modified xsi:type="dcterms:W3CDTF">2025-10-26T17:42:33Z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B0F72D7A6FEF4994B6D8A05644444DE6_13</vt:lpwstr>
  </property>
  <property fmtid="{D5CDD505-2E9C-101B-9397-08002B2CF9AE}" pid="3" name="KSOProductBuildVer">
    <vt:lpwstr>1033-12.2.0.23131</vt:lpwstr>
  </property>
</Properties>
</file>